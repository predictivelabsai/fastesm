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731520" y="1463040"/>
            <a:ext cx="10698480" cy="2194560"/>
          </a:xfrm>
          <a:prstGeom prst="rect">
            <a:avLst/>
          </a:prstGeom>
          <a:noFill/>
        </p:spPr>
        <p:txBody>
          <a:bodyPr wrap="none">
            <a:spAutoFit/>
          </a:bodyPr>
          <a:lstStyle/>
          <a:p>
            <a:pPr>
              <a:defRPr sz="4200" b="1">
                <a:solidFill>
                  <a:srgbClr val="F5F7FA"/>
                </a:solidFill>
              </a:defRPr>
            </a:pPr>
            <a:r>
              <a:t>FastESM</a:t>
            </a:r>
            <a:br/>
            <a:r>
              <a:t>Platform Guide</a:t>
            </a:r>
          </a:p>
          <a:p>
            <a:pPr>
              <a:defRPr sz="1800">
                <a:solidFill>
                  <a:srgbClr val="F97316"/>
                </a:solidFill>
              </a:defRPr>
            </a:pPr>
            <a:r>
              <a:t>2026-08-19  •  https://esm.fastsme.com</a:t>
            </a:r>
          </a:p>
        </p:txBody>
      </p:sp>
      <p:sp>
        <p:nvSpPr>
          <p:cNvPr id="3" name="TextBox 2"/>
          <p:cNvSpPr txBox="1"/>
          <p:nvPr/>
        </p:nvSpPr>
        <p:spPr>
          <a:xfrm>
            <a:off x="731520" y="4206240"/>
            <a:ext cx="10241280" cy="1188720"/>
          </a:xfrm>
          <a:prstGeom prst="rect">
            <a:avLst/>
          </a:prstGeom>
          <a:noFill/>
        </p:spPr>
        <p:txBody>
          <a:bodyPr wrap="none">
            <a:spAutoFit/>
          </a:bodyPr>
          <a:lstStyle/>
          <a:p>
            <a:pPr>
              <a:defRPr sz="1600">
                <a:solidFill>
                  <a:srgbClr val="B1BCCC"/>
                </a:solidFill>
              </a:defRPr>
            </a:pPr>
            <a:r>
              <a:t>**FastESM** is an open-source **Enterprise Service Management (ESM)** platform built with — Python-first, server-side, HTMX-driven, no JavaScript framework. It takes the ITSM ticket/SLA model and extends it across **every department** (IT, HR, Facilities, Finance): a **service catalog** you browse like a webshop, **req</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Make every internal service simple to request and deliver.</a:t>
            </a:r>
          </a:p>
        </p:txBody>
      </p:sp>
      <p:pic>
        <p:nvPicPr>
          <p:cNvPr id="3" name="Picture 2" descr="01-make-every-internal-service-simple-to-request-a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ENTERPRISE SERVICE MANAGEMENT Make every internal service simple to request and deliver. Publish a service catalogue, route approvals, manage requests, and give every role a clear queue. Sign In or Register Explore the open-source suite → Product tour · see th</a:t>
            </a:r>
          </a:p>
          <a:p>
            <a:pPr>
              <a:defRPr sz="900">
                <a:solidFill>
                  <a:srgbClr val="F97316"/>
                </a:solidFill>
              </a:defRPr>
            </a:pPr>
            <a:r>
              <a:t>https://esm.fastsme.com/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Build with the FastESM API.</a:t>
            </a:r>
          </a:p>
        </p:txBody>
      </p:sp>
      <p:pic>
        <p:nvPicPr>
          <p:cNvPr id="3" name="Picture 2" descr="02-build-with-the-fastesm-api.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FastESM Developers Back to product DEVELOPER PLATFORM · API V1 Build with the FastESM API. Read the live demo database through a typed, versioned API. Selected integration writes are implemented behind bearer-token authentication. Open Swagger UI Open ReDoc Do</a:t>
            </a:r>
          </a:p>
          <a:p>
            <a:pPr>
              <a:defRPr sz="900">
                <a:solidFill>
                  <a:srgbClr val="F97316"/>
                </a:solidFill>
              </a:defRPr>
            </a:pPr>
            <a:r>
              <a:t>https://esm.fastsme.com/developers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222"/>
        </a:solidFill>
        <a:effectLst/>
      </p:bgPr>
    </p:bg>
    <p:spTree>
      <p:nvGrpSpPr>
        <p:cNvPr id="1" name=""/>
        <p:cNvGrpSpPr/>
        <p:nvPr/>
      </p:nvGrpSpPr>
      <p:grpSpPr/>
      <p:sp>
        <p:nvSpPr>
          <p:cNvPr id="2" name="TextBox 1"/>
          <p:cNvSpPr txBox="1"/>
          <p:nvPr/>
        </p:nvSpPr>
        <p:spPr>
          <a:xfrm>
            <a:off x="548640" y="320040"/>
            <a:ext cx="11064240" cy="594360"/>
          </a:xfrm>
          <a:prstGeom prst="rect">
            <a:avLst/>
          </a:prstGeom>
          <a:noFill/>
        </p:spPr>
        <p:txBody>
          <a:bodyPr wrap="none">
            <a:spAutoFit/>
          </a:bodyPr>
          <a:lstStyle/>
          <a:p>
            <a:pPr>
              <a:defRPr sz="2700" b="1">
                <a:solidFill>
                  <a:srgbClr val="F5F7FA"/>
                </a:solidFill>
              </a:defRPr>
            </a:pPr>
            <a:r>
              <a:t>Sign in</a:t>
            </a:r>
          </a:p>
        </p:txBody>
      </p:sp>
      <p:pic>
        <p:nvPicPr>
          <p:cNvPr id="3" name="Picture 2" descr="03-sign-in.png"/>
          <p:cNvPicPr>
            <a:picLocks noChangeAspect="1"/>
          </p:cNvPicPr>
          <p:nvPr/>
        </p:nvPicPr>
        <p:blipFill>
          <a:blip r:embed="rId2"/>
          <a:stretch>
            <a:fillRect/>
          </a:stretch>
        </p:blipFill>
        <p:spPr>
          <a:xfrm>
            <a:off x="548640" y="1097280"/>
            <a:ext cx="7924799" cy="4953000"/>
          </a:xfrm>
          <a:prstGeom prst="rect">
            <a:avLst/>
          </a:prstGeom>
        </p:spPr>
      </p:pic>
      <p:sp>
        <p:nvSpPr>
          <p:cNvPr id="4" name="TextBox 3"/>
          <p:cNvSpPr txBox="1"/>
          <p:nvPr/>
        </p:nvSpPr>
        <p:spPr>
          <a:xfrm>
            <a:off x="9646920" y="1143000"/>
            <a:ext cx="1965960" cy="5120640"/>
          </a:xfrm>
          <a:prstGeom prst="rect">
            <a:avLst/>
          </a:prstGeom>
          <a:noFill/>
        </p:spPr>
        <p:txBody>
          <a:bodyPr wrap="none">
            <a:spAutoFit/>
          </a:bodyPr>
          <a:lstStyle/>
          <a:p>
            <a:pPr>
              <a:defRPr sz="1200">
                <a:solidFill>
                  <a:srgbClr val="B1BCCC"/>
                </a:solidFill>
              </a:defRPr>
            </a:pPr>
            <a:r>
              <a:t>Sign in with Google Sign in to continue to fastsme.com Email or phone Forgot email? Next Create account Afrikaans azərbaycan bosanski català Čeština Cymraeg Dansk Deutsch eesti English (United Kingdom) English (United States) Español (España) Español (Latinoam</a:t>
            </a:r>
          </a:p>
          <a:p>
            <a:pPr>
              <a:defRPr sz="900">
                <a:solidFill>
                  <a:srgbClr val="F97316"/>
                </a:solidFill>
              </a:defRPr>
            </a:pPr>
            <a:r>
              <a:t>https://accounts.google.com/v3/signin/identifier?opparams=%253F&amp;dsh=S2098134913%3A1787122713604560&amp;access_type=online&amp;client_id=887059023987-2a7spj1m82eivobdbt1itb3cqca6tpt1.apps.googleusercontent.com&amp;o2v=2&amp;prompt=select_account&amp;redirect_uri=https%3A%2F%2Fesm.fastsme.com%2Fauth%2Fgoogle%2Fcallback&amp;response_type=code&amp;scope=openid+email+profile&amp;service=lso&amp;state=brqJv00iPnVXkUl6LAwpJmZ4as5BoqR_CI4tsePJgKQ&amp;flowName=GeneralOAuthLite&amp;continue=https%3A%2F%2Faccounts.google.com%2Fsignin%2Foauth%2Flegacy%2Fconsent%3Fauthuser%3Dunknown%26part%3DAJi8hAO4L_MbbPFwldikT7P1aQ4h1PY2aCLdFgHpF6CvjLopduxNUXt1R8jDMCbgmKeY6TSbc-cIRt665-P7_1HmtGuxnkLDOpThRguKJxWSynjw4F7rolPfHFbt485eVAtBjXLkXKf-0Gw8613V5-G7CMGz6JbaWzAomIrwpt3_ReSyssD26Cw_RXX8AOC201YDgjzdJjI-2oL017uOjlJ1cN-U11fnI5y04uBOy1WQkqWG1LG1Y7fr1k7_DzdCXWekoJ2S0Hq63YlWyKc_tGndMfjqepU1VG_jfbs8r9f6S9gqfktKATnkFMW9uKI5p-ESOHnYYswzYL3edMLfEN0sKWU55LAkkCAsH54f3onquheBrHrLyPcE38RMLwxw1X8zokYFCVHaLpxw7_n1n-RbveFGj60QDflyFW0Ers1FMSgjhpJYBJlY2UEkWP377AChucHUzNsSxeu-4Po0I164Jambj0nZQA%26flowName%3DGeneralOAuthFlow%26as%3DS2098134913%253A1787122713604560%26client_id%3D887059023987-2a7spj1m82eivobdbt1itb3cqca6tpt1.apps.googleusercontent.com%23&amp;app_domain=https%3A%2F%2Fesm.fastsme.com&amp;rart=ANgoxcf7gR_B15nkIf95XbkVaYxuyybYBoCOtI4dLYwyTLVNcdgeZQKmcYHepBeXd5qgvvjog2oVwKzvm5iMTWZVQay2XiPWrVy7kp1RTKw481y6O1IktX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